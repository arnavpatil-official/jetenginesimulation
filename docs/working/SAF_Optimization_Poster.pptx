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21945600"/>
  <p:notesSz cx="21945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2011680"/>
          </a:xfrm>
          <a:prstGeom prst="rect">
            <a:avLst/>
          </a:prstGeom>
          <a:solidFill>
            <a:srgbClr val="005B6B"/>
          </a:solidFill>
          <a:ln w="12700">
            <a:solidFill>
              <a:srgbClr val="005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514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 of Sustainable Aviation Fuel (SAF) Blends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2514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9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Physics- and Kinetics-Informed Turbofan Digital Twin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53619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Patil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334720" y="109728"/>
            <a:ext cx="6309360" cy="512064"/>
          </a:xfrm>
          <a:prstGeom prst="rect">
            <a:avLst/>
          </a:prstGeom>
          <a:solidFill>
            <a:srgbClr val="FFFFFF">
              <a:alpha val="15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426160" y="128016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  </a:t>
            </a:r>
            <a:pPr algn="r" indent="0" marL="0">
              <a:buNone/>
            </a:pPr>
            <a:r>
              <a:rPr lang="en-US" sz="1700" dirty="0">
                <a:solidFill>
                  <a:srgbClr val="C8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Pareto-Optimal Blends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334720" y="704088"/>
            <a:ext cx="6309360" cy="512064"/>
          </a:xfrm>
          <a:prstGeom prst="rect">
            <a:avLst/>
          </a:prstGeom>
          <a:solidFill>
            <a:srgbClr val="FFFFFF">
              <a:alpha val="15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26160" y="722376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~51%  </a:t>
            </a:r>
            <a:pPr algn="r" indent="0" marL="0">
              <a:buNone/>
            </a:pPr>
            <a:r>
              <a:rPr lang="en-US" sz="1700" dirty="0">
                <a:solidFill>
                  <a:srgbClr val="C8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CO₂ Reduction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334720" y="1298448"/>
            <a:ext cx="6309360" cy="512064"/>
          </a:xfrm>
          <a:prstGeom prst="rect">
            <a:avLst/>
          </a:prstGeom>
          <a:solidFill>
            <a:srgbClr val="FFFFFF">
              <a:alpha val="15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426160" y="1316736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 </a:t>
            </a:r>
            <a:pPr algn="r" indent="0" marL="0">
              <a:buNone/>
            </a:pPr>
            <a:r>
              <a:rPr lang="en-US" sz="1700" dirty="0">
                <a:solidFill>
                  <a:srgbClr val="C8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Trials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64592" y="2176272"/>
            <a:ext cx="8046720" cy="19677888"/>
          </a:xfrm>
          <a:prstGeom prst="rect">
            <a:avLst/>
          </a:prstGeom>
          <a:solidFill>
            <a:srgbClr val="EAF5F8"/>
          </a:solidFill>
          <a:ln w="6350">
            <a:solidFill>
              <a:srgbClr val="C0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2340864"/>
            <a:ext cx="8046720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40864"/>
            <a:ext cx="7918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" y="2779776"/>
            <a:ext cx="771753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contributes ~2.5% of global CO₂ emissions (ATAG, 2022), a share expected to grow without intervention.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Aviation Fuels (SAF) — HEFA (hydroprocessed oils), ATJ (alcohol-to-jet), and FT-SPK (Fischer-Tropsch) — can reduce lifecycle CO₂ by up to 80% vs. Jet-A (Wang et al., 2024).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performance and emissions depend critically on blend composition: thrust, TSFC, NOx, and lifecycle carbon all vary across the blend space.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blend testing is expensive and slow. Standard CFD cannot efficiently screen thousands of blend combinations. A computational surrogate is needed.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4592" y="6574536"/>
            <a:ext cx="8046720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6574536"/>
            <a:ext cx="7918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9184" y="7013448"/>
            <a:ext cx="7717536" cy="1325880"/>
          </a:xfrm>
          <a:prstGeom prst="rect">
            <a:avLst/>
          </a:prstGeom>
          <a:solidFill>
            <a:srgbClr val="D6EEF2"/>
          </a:solidFill>
          <a:ln w="10160">
            <a:solidFill>
              <a:srgbClr val="C0D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" y="7013448"/>
            <a:ext cx="91440" cy="132588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7104888"/>
            <a:ext cx="7516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SAF blend composition minimizes lifecycle CO₂ and NOx while preserving turbofan thrust and fuel efficiency under realistic thermodynamic constraints?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64592" y="8476488"/>
            <a:ext cx="8046720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8476488"/>
            <a:ext cx="7918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9184" y="8915400"/>
            <a:ext cx="771753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fuel-aware turbofan digital twin — combining Cantera chemical kinetics with physics-informed neural networks — then identify Pareto-optimal SAF blends across a continuous blend space using multi-objective optimization.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64592" y="10287000"/>
            <a:ext cx="8046720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0287000"/>
            <a:ext cx="7918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9184" y="10725912"/>
            <a:ext cx="7717536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 et al. (2023): </a:t>
            </a:r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PINNs predict gas flow dynamics and unknown parameters in diesel engines with limited, noisy data (Sci. Reports).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et al. (2026): </a:t>
            </a:r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Locally-enhanced PINNs achieve &lt;1% average wall-temperature error in aero-engine nozzle modeling (AST).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Şahin (2023): </a:t>
            </a:r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ANNs outperform XGBoost/SVM for NOx prediction in diesel/biodiesel/iso-pentanol blends (Heliyon).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Kuzhagaliyeva et al. (2022): </a:t>
            </a:r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genetic algorithms design fuel mixtures from molecular descriptors, reducing lab testing cost (Commun. Chem.).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 et al. (2024): </a:t>
            </a:r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0D/1D Cantera + 3D CFD for hydrogen ICE; holistic modeling essential for accuracy (Energies).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→: </a:t>
            </a:r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Cantera + PINN integration for a turbofan (not ICE); 4-objective Pareto optimization across SAF blend space.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64592" y="14886432"/>
            <a:ext cx="8046720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4886432"/>
            <a:ext cx="7918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ICAO LTO Data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9184" y="15325344"/>
            <a:ext cx="7717536" cy="6400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0D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15435072"/>
            <a:ext cx="75163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ICAO LTO records — Rolls-Royce Trent 1000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 model R² = </a:t>
            </a:r>
            <a:pPr indent="0" marL="0">
              <a:buNone/>
            </a:pPr>
            <a:r>
              <a:rPr lang="en-US" sz="1600" b="1" dirty="0">
                <a:solidFill>
                  <a:srgbClr val="1A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0.9969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MAPE = </a:t>
            </a:r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6239744"/>
          <a:ext cx="7534656" cy="2651760"/>
        </p:xfrm>
        <a:graphic>
          <a:graphicData uri="http://schemas.openxmlformats.org/drawingml/2006/table">
            <a:tbl>
              <a:tblPr/>
              <a:tblGrid>
                <a:gridCol w="1883664"/>
                <a:gridCol w="1883664"/>
                <a:gridCol w="1883664"/>
                <a:gridCol w="1883664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ICAO (kg/s)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(kg/s)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−0.035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+0.013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+0.045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Takeoff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+0.619 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438912" y="19028664"/>
            <a:ext cx="7498080" cy="2560320"/>
          </a:xfrm>
          <a:prstGeom prst="rect">
            <a:avLst/>
          </a:prstGeom>
          <a:solidFill>
            <a:srgbClr val="FFF8F6"/>
          </a:solidFill>
          <a:ln w="7620">
            <a:solidFill>
              <a:srgbClr val="F1C2B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0352" y="19120104"/>
            <a:ext cx="7333488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Takeoff limitation: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+27% fuel-flow overprediction at max-throttle. Idle, Approach, and Climb — the three dominant LTO phases by flight time — are within ±5%.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 model: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ICAO multi-variable regression in log-space (scikit-learn). Fitted: NOx = 9.82 × OPR^0.207 × ṁ_fuel^0.951. R² = 0.9969 across 180 certified LTO records.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375904" y="2340864"/>
            <a:ext cx="15270480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85632" y="2340864"/>
            <a:ext cx="1514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Turbofan Digital Twin Pipeline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631936" y="2779776"/>
            <a:ext cx="2029968" cy="1627632"/>
          </a:xfrm>
          <a:prstGeom prst="rect">
            <a:avLst/>
          </a:prstGeom>
          <a:solidFill>
            <a:srgbClr val="2C6E8A"/>
          </a:solidFill>
          <a:ln w="12700">
            <a:solidFill>
              <a:srgbClr val="2C6E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8631936" y="285292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Blend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8741664" y="3447288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631936" y="3493008"/>
            <a:ext cx="202996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HEFA · FT-SPK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ATJ-SPK + Jet-A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≤50% SAF | 1,000 trials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0661904" y="3593592"/>
            <a:ext cx="91440" cy="0"/>
          </a:xfrm>
          <a:prstGeom prst="line">
            <a:avLst/>
          </a:prstGeom>
          <a:noFill/>
          <a:ln w="31750">
            <a:solidFill>
              <a:srgbClr val="3AABB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698480" y="3538728"/>
            <a:ext cx="54864" cy="109728"/>
          </a:xfrm>
          <a:prstGeom prst="rect">
            <a:avLst/>
          </a:prstGeom>
          <a:solidFill>
            <a:srgbClr val="3AABB8"/>
          </a:solidFill>
          <a:ln w="12700">
            <a:solidFill>
              <a:srgbClr val="3AABB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753344" y="2779776"/>
            <a:ext cx="2029968" cy="1627632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10753344" y="285292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10863072" y="3447288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753344" y="3493008"/>
            <a:ext cx="202996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Brayton cycle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Fuel-dep. OPR → T, p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2783312" y="3593592"/>
            <a:ext cx="91440" cy="0"/>
          </a:xfrm>
          <a:prstGeom prst="line">
            <a:avLst/>
          </a:prstGeom>
          <a:noFill/>
          <a:ln w="31750">
            <a:solidFill>
              <a:srgbClr val="3AABB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2819888" y="3538728"/>
            <a:ext cx="54864" cy="109728"/>
          </a:xfrm>
          <a:prstGeom prst="rect">
            <a:avLst/>
          </a:prstGeom>
          <a:solidFill>
            <a:srgbClr val="3AABB8"/>
          </a:solidFill>
          <a:ln w="12700">
            <a:solidFill>
              <a:srgbClr val="3AABB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2874752" y="2779776"/>
            <a:ext cx="2029968" cy="1627632"/>
          </a:xfrm>
          <a:prstGeom prst="rect">
            <a:avLst/>
          </a:prstGeom>
          <a:solidFill>
            <a:srgbClr val="006B77"/>
          </a:solidFill>
          <a:ln w="12700">
            <a:solidFill>
              <a:srgbClr val="006B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12874752" y="285292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Combustor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12984480" y="3447288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874752" y="3493008"/>
            <a:ext cx="202996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CRECK C1-C16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1,700+ reactions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T, p, cp, R, γ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14904720" y="3593592"/>
            <a:ext cx="91440" cy="0"/>
          </a:xfrm>
          <a:prstGeom prst="line">
            <a:avLst/>
          </a:prstGeom>
          <a:noFill/>
          <a:ln w="31750">
            <a:solidFill>
              <a:srgbClr val="3AABB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4941296" y="3538728"/>
            <a:ext cx="54864" cy="109728"/>
          </a:xfrm>
          <a:prstGeom prst="rect">
            <a:avLst/>
          </a:prstGeom>
          <a:solidFill>
            <a:srgbClr val="3AABB8"/>
          </a:solidFill>
          <a:ln w="12700">
            <a:solidFill>
              <a:srgbClr val="3AABB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4996160" y="2779776"/>
            <a:ext cx="2029968" cy="1627632"/>
          </a:xfrm>
          <a:prstGeom prst="rect">
            <a:avLst/>
          </a:prstGeom>
          <a:solidFill>
            <a:srgbClr val="005B67"/>
          </a:solidFill>
          <a:ln w="12700">
            <a:solidFill>
              <a:srgbClr val="005B6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14996160" y="285292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15105888" y="3447288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4996160" y="3493008"/>
            <a:ext cx="202996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Fuel-dependent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surrogate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continuity enforced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17026128" y="3593592"/>
            <a:ext cx="91440" cy="0"/>
          </a:xfrm>
          <a:prstGeom prst="line">
            <a:avLst/>
          </a:prstGeom>
          <a:noFill/>
          <a:ln w="31750">
            <a:solidFill>
              <a:srgbClr val="3AABB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7062704" y="3538728"/>
            <a:ext cx="54864" cy="109728"/>
          </a:xfrm>
          <a:prstGeom prst="rect">
            <a:avLst/>
          </a:prstGeom>
          <a:solidFill>
            <a:srgbClr val="3AABB8"/>
          </a:solidFill>
          <a:ln w="12700">
            <a:solidFill>
              <a:srgbClr val="3AABB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7117568" y="2779776"/>
            <a:ext cx="2029968" cy="1627632"/>
          </a:xfrm>
          <a:prstGeom prst="rect">
            <a:avLst/>
          </a:prstGeom>
          <a:solidFill>
            <a:srgbClr val="004B57"/>
          </a:solidFill>
          <a:ln w="12700">
            <a:solidFill>
              <a:srgbClr val="004B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17117568" y="285292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v4.0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17227296" y="3447288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7117568" y="3493008"/>
            <a:ext cx="202996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 fuel-aware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gates 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err &lt;0.5%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19147536" y="3593592"/>
            <a:ext cx="91440" cy="0"/>
          </a:xfrm>
          <a:prstGeom prst="line">
            <a:avLst/>
          </a:prstGeom>
          <a:noFill/>
          <a:ln w="31750">
            <a:solidFill>
              <a:srgbClr val="3AABB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9184112" y="3538728"/>
            <a:ext cx="54864" cy="109728"/>
          </a:xfrm>
          <a:prstGeom prst="rect">
            <a:avLst/>
          </a:prstGeom>
          <a:solidFill>
            <a:srgbClr val="3AABB8"/>
          </a:solidFill>
          <a:ln w="12700">
            <a:solidFill>
              <a:srgbClr val="3AABB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9238976" y="2779776"/>
            <a:ext cx="2029968" cy="1627632"/>
          </a:xfrm>
          <a:prstGeom prst="rect">
            <a:avLst/>
          </a:prstGeom>
          <a:solidFill>
            <a:srgbClr val="1C6E4E"/>
          </a:solidFill>
          <a:ln w="12700">
            <a:solidFill>
              <a:srgbClr val="1C6E4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19238976" y="285292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68" name="Shape 65"/>
          <p:cNvSpPr/>
          <p:nvPr/>
        </p:nvSpPr>
        <p:spPr>
          <a:xfrm>
            <a:off x="19348704" y="3447288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9238976" y="3493008"/>
            <a:ext cx="202996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NOx: ICAO reg.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R²=0.9969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CO₂: LCA×3.16 kg/kg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21268944" y="3593592"/>
            <a:ext cx="91440" cy="0"/>
          </a:xfrm>
          <a:prstGeom prst="line">
            <a:avLst/>
          </a:prstGeom>
          <a:noFill/>
          <a:ln w="31750">
            <a:solidFill>
              <a:srgbClr val="3AABB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1305520" y="3538728"/>
            <a:ext cx="54864" cy="109728"/>
          </a:xfrm>
          <a:prstGeom prst="rect">
            <a:avLst/>
          </a:prstGeom>
          <a:solidFill>
            <a:srgbClr val="3AABB8"/>
          </a:solidFill>
          <a:ln w="12700">
            <a:solidFill>
              <a:srgbClr val="3AABB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21360384" y="2779776"/>
            <a:ext cx="2029968" cy="1627632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73" name="Text 70"/>
          <p:cNvSpPr/>
          <p:nvPr/>
        </p:nvSpPr>
        <p:spPr>
          <a:xfrm>
            <a:off x="21360384" y="285292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500" dirty="0"/>
          </a:p>
        </p:txBody>
      </p:sp>
      <p:sp>
        <p:nvSpPr>
          <p:cNvPr id="74" name="Shape 71"/>
          <p:cNvSpPr/>
          <p:nvPr/>
        </p:nvSpPr>
        <p:spPr>
          <a:xfrm>
            <a:off x="21470112" y="3447288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21360384" y="3493008"/>
            <a:ext cx="2029968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trials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objectives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D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398 Pareto blends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8375904" y="4663440"/>
            <a:ext cx="15270480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485632" y="4663440"/>
            <a:ext cx="1514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1,000 Trials  ·  398 Pareto-Optimal SAF Blends Identified</a:t>
            </a:r>
            <a:endParaRPr lang="en-US" sz="1800" dirty="0"/>
          </a:p>
        </p:txBody>
      </p:sp>
      <p:sp>
        <p:nvSpPr>
          <p:cNvPr id="78" name="Text 75"/>
          <p:cNvSpPr/>
          <p:nvPr/>
        </p:nvSpPr>
        <p:spPr>
          <a:xfrm>
            <a:off x="8540496" y="5102352"/>
            <a:ext cx="1494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4-objective optimization (minimize TSFC, CO₂, NOx; maximize specific thrust) over a continuous SAF blend space (HEFA, FT-SPK, ATJ-SPK fractions + Jet-A baseline). </a:t>
            </a:r>
            <a:pPr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filtering retained 398 of 1,000 trials as non-dominated solutions. </a:t>
            </a:r>
            <a:pPr indent="0" marL="0">
              <a:buNone/>
            </a:pPr>
            <a:r>
              <a:rPr lang="en-US" sz="145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thrust remained stable (800.5–805.8 N·s/kg, ±0.7%) across all 398 blends — confirming performance preservation.</a:t>
            </a:r>
            <a:endParaRPr lang="en-US" sz="1450" dirty="0"/>
          </a:p>
        </p:txBody>
      </p:sp>
      <p:sp>
        <p:nvSpPr>
          <p:cNvPr id="79" name="Shape 76"/>
          <p:cNvSpPr/>
          <p:nvPr/>
        </p:nvSpPr>
        <p:spPr>
          <a:xfrm>
            <a:off x="8412480" y="5742432"/>
            <a:ext cx="7552944" cy="8028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0D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pic>
        <p:nvPicPr>
          <p:cNvPr id="80" name="Image 0" descr="/sessions/busy-loving-fermat/mnt/JetEngineSimulation/outputs/plots/08_pareto_3d_enhanc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85632" y="5815584"/>
            <a:ext cx="7406640" cy="6647688"/>
          </a:xfrm>
          <a:prstGeom prst="rect">
            <a:avLst/>
          </a:prstGeom>
        </p:spPr>
      </p:pic>
      <p:sp>
        <p:nvSpPr>
          <p:cNvPr id="81" name="Shape 77"/>
          <p:cNvSpPr/>
          <p:nvPr/>
        </p:nvSpPr>
        <p:spPr>
          <a:xfrm>
            <a:off x="8485632" y="12463272"/>
            <a:ext cx="7406640" cy="1234440"/>
          </a:xfrm>
          <a:prstGeom prst="rect">
            <a:avLst/>
          </a:prstGeom>
          <a:solidFill>
            <a:srgbClr val="F2FAFB"/>
          </a:solidFill>
          <a:ln w="12700">
            <a:solidFill>
              <a:srgbClr val="C0DDE2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8540496" y="12508992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3D Pareto Objective Space (TSFC · CO₂ · Specific Thrust)</a:t>
            </a:r>
            <a:endParaRPr lang="en-US" sz="1300" dirty="0"/>
          </a:p>
        </p:txBody>
      </p:sp>
      <p:sp>
        <p:nvSpPr>
          <p:cNvPr id="83" name="Text 79"/>
          <p:cNvSpPr/>
          <p:nvPr/>
        </p:nvSpPr>
        <p:spPr>
          <a:xfrm>
            <a:off x="8540496" y="12792456"/>
            <a:ext cx="7296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★ is a Pareto-optimal blend: no improvement on one objective without worsening another. Color = NOx emission (g/s); marker size = SAF fraction. The 398 starred points cluster away from non-dominated trials. The lower-left region — low TSFC and low lifecycle CO₂ — represents the target zone for further SAF development. Specific thrust axis range (800–806 N·s/kg) confirms near-constant engine performance across all blends.</a:t>
            </a:r>
            <a:endParaRPr lang="en-US" sz="1200" dirty="0"/>
          </a:p>
        </p:txBody>
      </p:sp>
      <p:sp>
        <p:nvSpPr>
          <p:cNvPr id="84" name="Shape 80"/>
          <p:cNvSpPr/>
          <p:nvPr/>
        </p:nvSpPr>
        <p:spPr>
          <a:xfrm>
            <a:off x="16002000" y="5742432"/>
            <a:ext cx="7552944" cy="8028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0D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pic>
        <p:nvPicPr>
          <p:cNvPr id="85" name="Image 1" descr="/sessions/busy-loving-fermat/mnt/JetEngineSimulation/outputs/plots/11_lca_vs_netco2_scat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075152" y="5815584"/>
            <a:ext cx="7406640" cy="6647688"/>
          </a:xfrm>
          <a:prstGeom prst="rect">
            <a:avLst/>
          </a:prstGeom>
        </p:spPr>
      </p:pic>
      <p:sp>
        <p:nvSpPr>
          <p:cNvPr id="86" name="Shape 81"/>
          <p:cNvSpPr/>
          <p:nvPr/>
        </p:nvSpPr>
        <p:spPr>
          <a:xfrm>
            <a:off x="16075152" y="12463272"/>
            <a:ext cx="7406640" cy="1234440"/>
          </a:xfrm>
          <a:prstGeom prst="rect">
            <a:avLst/>
          </a:prstGeom>
          <a:solidFill>
            <a:srgbClr val="F2FAFB"/>
          </a:solidFill>
          <a:ln w="12700">
            <a:solidFill>
              <a:srgbClr val="C0DDE2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16130016" y="12508992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Lifecycle Carbon Factor vs. Net CO₂ Emissions</a:t>
            </a:r>
            <a:endParaRPr lang="en-US" sz="1300" dirty="0"/>
          </a:p>
        </p:txBody>
      </p:sp>
      <p:sp>
        <p:nvSpPr>
          <p:cNvPr id="88" name="Text 83"/>
          <p:cNvSpPr/>
          <p:nvPr/>
        </p:nvSpPr>
        <p:spPr>
          <a:xfrm>
            <a:off x="16130016" y="12792456"/>
            <a:ext cx="7296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SAF content → lower lifecycle carbon factor (LCA, x-axis) → lower net CO₂ (y-axis). Color = NOx (g/s). Low-NOx solutions (blue/purple) span the full SAF content range. Best blend: LCA ≈ 0.59, CO₂ ≈ 4,175 g/s — a ~51% reduction vs. the Jet-A baseline (~8,464 g/s). The labeled clusters (High SAF, Mid SAF, Low SAF, Jet-like) show how blend composition drives the emissions landscape. SAF content is the dominant lever for lifecycle carbon reduction (Wang et al., 2024).</a:t>
            </a:r>
            <a:endParaRPr lang="en-US" sz="1200" dirty="0"/>
          </a:p>
        </p:txBody>
      </p:sp>
      <p:sp>
        <p:nvSpPr>
          <p:cNvPr id="89" name="Shape 84"/>
          <p:cNvSpPr/>
          <p:nvPr/>
        </p:nvSpPr>
        <p:spPr>
          <a:xfrm>
            <a:off x="8412480" y="13825728"/>
            <a:ext cx="7552944" cy="8028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0D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pic>
        <p:nvPicPr>
          <p:cNvPr id="90" name="Image 2" descr="/sessions/busy-loving-fermat/mnt/JetEngineSimulation/outputs/plots/13_icao_validation_subplot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85632" y="13898880"/>
            <a:ext cx="7406640" cy="6647688"/>
          </a:xfrm>
          <a:prstGeom prst="rect">
            <a:avLst/>
          </a:prstGeom>
        </p:spPr>
      </p:pic>
      <p:sp>
        <p:nvSpPr>
          <p:cNvPr id="91" name="Shape 85"/>
          <p:cNvSpPr/>
          <p:nvPr/>
        </p:nvSpPr>
        <p:spPr>
          <a:xfrm>
            <a:off x="8485632" y="20546568"/>
            <a:ext cx="7406640" cy="1234440"/>
          </a:xfrm>
          <a:prstGeom prst="rect">
            <a:avLst/>
          </a:prstGeom>
          <a:solidFill>
            <a:srgbClr val="F2FAFB"/>
          </a:solidFill>
          <a:ln w="12700">
            <a:solidFill>
              <a:srgbClr val="C0DDE2"/>
            </a:solidFill>
            <a:prstDash val="solid"/>
          </a:ln>
        </p:spPr>
      </p:sp>
      <p:sp>
        <p:nvSpPr>
          <p:cNvPr id="92" name="Text 86"/>
          <p:cNvSpPr/>
          <p:nvPr/>
        </p:nvSpPr>
        <p:spPr>
          <a:xfrm>
            <a:off x="8540496" y="20592288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— ICAO LTO Fuel Flow Validation (Rolls-Royce Trent 1000)</a:t>
            </a:r>
            <a:endParaRPr lang="en-US" sz="1300" dirty="0"/>
          </a:p>
        </p:txBody>
      </p:sp>
      <p:sp>
        <p:nvSpPr>
          <p:cNvPr id="93" name="Text 87"/>
          <p:cNvSpPr/>
          <p:nvPr/>
        </p:nvSpPr>
        <p:spPr>
          <a:xfrm>
            <a:off x="8540496" y="20875752"/>
            <a:ext cx="7296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predictions vs. 180 certified ICAO LTO records across four power modes. Grey = ICAO mean ± 1σ; blue = model prediction. Agreement is within ±5% at Idle (Δ=−0.035 kg/s), Approach (Δ=+0.013 kg/s), and Climb (Δ=+0.045 kg/s). Takeoff shows a +0.619 kg/s (+27%) overprediction — a known limitation at max-throttle extrapolation. Overall MAPE = 11.3%. Error bars use ±0.5×ICAO σ propagation (data per ICAO Engine Emissions Databank, 2021).</a:t>
            </a:r>
            <a:endParaRPr lang="en-US" sz="1200" dirty="0"/>
          </a:p>
        </p:txBody>
      </p:sp>
      <p:sp>
        <p:nvSpPr>
          <p:cNvPr id="94" name="Shape 88"/>
          <p:cNvSpPr/>
          <p:nvPr/>
        </p:nvSpPr>
        <p:spPr>
          <a:xfrm>
            <a:off x="16002000" y="13825728"/>
            <a:ext cx="7552944" cy="8028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0D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pic>
        <p:nvPicPr>
          <p:cNvPr id="95" name="Image 3" descr="/sessions/busy-loving-fermat/mnt/JetEngineSimulation/outputs/plots/emissions_compariso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075152" y="13898880"/>
            <a:ext cx="7406640" cy="6647688"/>
          </a:xfrm>
          <a:prstGeom prst="rect">
            <a:avLst/>
          </a:prstGeom>
        </p:spPr>
      </p:pic>
      <p:sp>
        <p:nvSpPr>
          <p:cNvPr id="96" name="Shape 89"/>
          <p:cNvSpPr/>
          <p:nvPr/>
        </p:nvSpPr>
        <p:spPr>
          <a:xfrm>
            <a:off x="16075152" y="20546568"/>
            <a:ext cx="7406640" cy="1234440"/>
          </a:xfrm>
          <a:prstGeom prst="rect">
            <a:avLst/>
          </a:prstGeom>
          <a:solidFill>
            <a:srgbClr val="F2FAFB"/>
          </a:solidFill>
          <a:ln w="12700">
            <a:solidFill>
              <a:srgbClr val="C0DDE2"/>
            </a:solidFill>
            <a:prstDash val="solid"/>
          </a:ln>
        </p:spPr>
      </p:sp>
      <p:sp>
        <p:nvSpPr>
          <p:cNvPr id="97" name="Text 90"/>
          <p:cNvSpPr/>
          <p:nvPr/>
        </p:nvSpPr>
        <p:spPr>
          <a:xfrm>
            <a:off x="16130016" y="20592288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— CO₂ and NOx by Optimization Target (Corner Pareto Solutions)</a:t>
            </a:r>
            <a:endParaRPr lang="en-US" sz="1300" dirty="0"/>
          </a:p>
        </p:txBody>
      </p:sp>
      <p:sp>
        <p:nvSpPr>
          <p:cNvPr id="98" name="Text 91"/>
          <p:cNvSpPr/>
          <p:nvPr/>
        </p:nvSpPr>
        <p:spPr>
          <a:xfrm>
            <a:off x="16130016" y="20875752"/>
            <a:ext cx="7296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CO₂ (left) and NOx (right) for the four extreme Pareto solutions. 'Best TSFC' achieves both the lowest CO₂ (~5,000 g/s) and lowest NOx (~95 g/s) — confirming that fuel efficiency and emissions reduction are co-aligned objectives. 'Best Thrust' carries the highest environmental cost. This finding indicates that optimizing for TSFC is an effective proxy for joint emissions reduction, a critical insight for practical SAF screening (Akdeniz et al., 2023).</a:t>
            </a:r>
            <a:endParaRPr lang="en-US" sz="1200" dirty="0"/>
          </a:p>
        </p:txBody>
      </p:sp>
      <p:sp>
        <p:nvSpPr>
          <p:cNvPr id="99" name="Shape 92"/>
          <p:cNvSpPr/>
          <p:nvPr/>
        </p:nvSpPr>
        <p:spPr>
          <a:xfrm>
            <a:off x="23810976" y="2340864"/>
            <a:ext cx="8796528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00" name="Text 93"/>
          <p:cNvSpPr/>
          <p:nvPr/>
        </p:nvSpPr>
        <p:spPr>
          <a:xfrm>
            <a:off x="23920704" y="2340864"/>
            <a:ext cx="8668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Quantitative Findings</a:t>
            </a:r>
            <a:endParaRPr lang="en-US" sz="1800" dirty="0"/>
          </a:p>
        </p:txBody>
      </p:sp>
      <p:sp>
        <p:nvSpPr>
          <p:cNvPr id="101" name="Shape 94"/>
          <p:cNvSpPr/>
          <p:nvPr/>
        </p:nvSpPr>
        <p:spPr>
          <a:xfrm>
            <a:off x="23902416" y="2779776"/>
            <a:ext cx="4187952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B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2" name="Shape 95"/>
          <p:cNvSpPr/>
          <p:nvPr/>
        </p:nvSpPr>
        <p:spPr>
          <a:xfrm>
            <a:off x="23902416" y="2779776"/>
            <a:ext cx="4187952" cy="237744"/>
          </a:xfrm>
          <a:prstGeom prst="rect">
            <a:avLst/>
          </a:prstGeom>
          <a:solidFill>
            <a:srgbClr val="006B77"/>
          </a:solidFill>
          <a:ln w="12700">
            <a:solidFill>
              <a:srgbClr val="006B77"/>
            </a:solidFill>
            <a:prstDash val="solid"/>
          </a:ln>
        </p:spPr>
      </p:sp>
      <p:sp>
        <p:nvSpPr>
          <p:cNvPr id="103" name="Text 96"/>
          <p:cNvSpPr/>
          <p:nvPr/>
        </p:nvSpPr>
        <p:spPr>
          <a:xfrm>
            <a:off x="23902416" y="3035808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</a:t>
            </a:r>
            <a:endParaRPr lang="en-US" sz="2800" dirty="0"/>
          </a:p>
        </p:txBody>
      </p:sp>
      <p:sp>
        <p:nvSpPr>
          <p:cNvPr id="104" name="Text 97"/>
          <p:cNvSpPr/>
          <p:nvPr/>
        </p:nvSpPr>
        <p:spPr>
          <a:xfrm>
            <a:off x="23902416" y="3639312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Pareto-optimal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blends</a:t>
            </a:r>
            <a:endParaRPr lang="en-US" sz="1300" dirty="0"/>
          </a:p>
        </p:txBody>
      </p:sp>
      <p:sp>
        <p:nvSpPr>
          <p:cNvPr id="105" name="Shape 98"/>
          <p:cNvSpPr/>
          <p:nvPr/>
        </p:nvSpPr>
        <p:spPr>
          <a:xfrm>
            <a:off x="28254960" y="2779776"/>
            <a:ext cx="4187952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06" name="Shape 99"/>
          <p:cNvSpPr/>
          <p:nvPr/>
        </p:nvSpPr>
        <p:spPr>
          <a:xfrm>
            <a:off x="28254960" y="2779776"/>
            <a:ext cx="4187952" cy="237744"/>
          </a:xfrm>
          <a:prstGeom prst="rect">
            <a:avLst/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107" name="Text 100"/>
          <p:cNvSpPr/>
          <p:nvPr/>
        </p:nvSpPr>
        <p:spPr>
          <a:xfrm>
            <a:off x="28254960" y="3035808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~51%</a:t>
            </a:r>
            <a:endParaRPr lang="en-US" sz="2800" dirty="0"/>
          </a:p>
        </p:txBody>
      </p:sp>
      <p:sp>
        <p:nvSpPr>
          <p:cNvPr id="108" name="Text 101"/>
          <p:cNvSpPr/>
          <p:nvPr/>
        </p:nvSpPr>
        <p:spPr>
          <a:xfrm>
            <a:off x="28254960" y="3639312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CO₂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(best blend)</a:t>
            </a:r>
            <a:endParaRPr lang="en-US" sz="1300" dirty="0"/>
          </a:p>
        </p:txBody>
      </p:sp>
      <p:sp>
        <p:nvSpPr>
          <p:cNvPr id="109" name="Shape 102"/>
          <p:cNvSpPr/>
          <p:nvPr/>
        </p:nvSpPr>
        <p:spPr>
          <a:xfrm>
            <a:off x="23902416" y="4169664"/>
            <a:ext cx="4187952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10" name="Shape 103"/>
          <p:cNvSpPr/>
          <p:nvPr/>
        </p:nvSpPr>
        <p:spPr>
          <a:xfrm>
            <a:off x="23902416" y="4169664"/>
            <a:ext cx="4187952" cy="23774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1" name="Text 104"/>
          <p:cNvSpPr/>
          <p:nvPr/>
        </p:nvSpPr>
        <p:spPr>
          <a:xfrm>
            <a:off x="23902416" y="442569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800" dirty="0"/>
          </a:p>
        </p:txBody>
      </p:sp>
      <p:sp>
        <p:nvSpPr>
          <p:cNvPr id="112" name="Text 105"/>
          <p:cNvSpPr/>
          <p:nvPr/>
        </p:nvSpPr>
        <p:spPr>
          <a:xfrm>
            <a:off x="23902416" y="5029200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Pareto blends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&gt;40% SAF</a:t>
            </a:r>
            <a:endParaRPr lang="en-US" sz="1300" dirty="0"/>
          </a:p>
        </p:txBody>
      </p:sp>
      <p:sp>
        <p:nvSpPr>
          <p:cNvPr id="113" name="Shape 106"/>
          <p:cNvSpPr/>
          <p:nvPr/>
        </p:nvSpPr>
        <p:spPr>
          <a:xfrm>
            <a:off x="28254960" y="4169664"/>
            <a:ext cx="4187952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5B2C6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sp>
        <p:nvSpPr>
          <p:cNvPr id="114" name="Shape 107"/>
          <p:cNvSpPr/>
          <p:nvPr/>
        </p:nvSpPr>
        <p:spPr>
          <a:xfrm>
            <a:off x="28254960" y="4169664"/>
            <a:ext cx="4187952" cy="237744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115" name="Text 108"/>
          <p:cNvSpPr/>
          <p:nvPr/>
        </p:nvSpPr>
        <p:spPr>
          <a:xfrm>
            <a:off x="28254960" y="442569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0.9969</a:t>
            </a:r>
            <a:endParaRPr lang="en-US" sz="2800" dirty="0"/>
          </a:p>
        </p:txBody>
      </p:sp>
      <p:sp>
        <p:nvSpPr>
          <p:cNvPr id="116" name="Text 109"/>
          <p:cNvSpPr/>
          <p:nvPr/>
        </p:nvSpPr>
        <p:spPr>
          <a:xfrm>
            <a:off x="28254960" y="5029200"/>
            <a:ext cx="4187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 model R²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(ICAO LTO regression)</a:t>
            </a:r>
            <a:endParaRPr lang="en-US" sz="1300" dirty="0"/>
          </a:p>
        </p:txBody>
      </p:sp>
      <p:sp>
        <p:nvSpPr>
          <p:cNvPr id="117" name="Shape 110"/>
          <p:cNvSpPr/>
          <p:nvPr/>
        </p:nvSpPr>
        <p:spPr>
          <a:xfrm>
            <a:off x="23902416" y="5669280"/>
            <a:ext cx="8613648" cy="1572768"/>
          </a:xfrm>
          <a:prstGeom prst="rect">
            <a:avLst/>
          </a:prstGeom>
          <a:solidFill>
            <a:srgbClr val="005B6B"/>
          </a:solidFill>
          <a:ln w="12700">
            <a:solidFill>
              <a:srgbClr val="005B6B"/>
            </a:solidFill>
            <a:prstDash val="solid"/>
          </a:ln>
        </p:spPr>
      </p:sp>
      <p:sp>
        <p:nvSpPr>
          <p:cNvPr id="118" name="Text 111"/>
          <p:cNvSpPr/>
          <p:nvPr/>
        </p:nvSpPr>
        <p:spPr>
          <a:xfrm>
            <a:off x="23957280" y="574243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Balanced Solution (from abstract)</a:t>
            </a:r>
            <a:endParaRPr lang="en-US" sz="1400" dirty="0"/>
          </a:p>
        </p:txBody>
      </p:sp>
      <p:sp>
        <p:nvSpPr>
          <p:cNvPr id="119" name="Text 112"/>
          <p:cNvSpPr/>
          <p:nvPr/>
        </p:nvSpPr>
        <p:spPr>
          <a:xfrm>
            <a:off x="23957280" y="6089904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Total: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29.6%  </a:t>
            </a:r>
            <a:pPr indent="0" marL="0">
              <a:buNone/>
            </a:pPr>
            <a:r>
              <a:rPr lang="en-US" sz="1400" b="1" dirty="0">
                <a:solidFill>
                  <a:srgbClr val="7F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TSFC: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29.46 mg/(N·s)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 Thrust: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800.6 N·s/kg  </a:t>
            </a:r>
            <a:pPr indent="0" marL="0">
              <a:buNone/>
            </a:pPr>
            <a:r>
              <a:rPr lang="en-US" sz="1400" b="1" dirty="0">
                <a:solidFill>
                  <a:srgbClr val="7F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87.65 g/kg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 Factor: </a:t>
            </a:r>
            <a:pPr indent="0" marL="0">
              <a:buNone/>
            </a:pPr>
            <a:r>
              <a:rPr lang="en-US" sz="1400" dirty="0">
                <a:solidFill>
                  <a:srgbClr val="C8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0.762  </a:t>
            </a:r>
            <a:pPr indent="0" marL="0">
              <a:buNone/>
            </a:pPr>
            <a:r>
              <a:rPr lang="en-US" sz="1300" dirty="0">
                <a:solidFill>
                  <a:srgbClr val="A0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(−23.8% vs. Jet-A baseline of 1.0)</a:t>
            </a:r>
            <a:endParaRPr lang="en-US" sz="1400" dirty="0"/>
          </a:p>
        </p:txBody>
      </p:sp>
      <p:sp>
        <p:nvSpPr>
          <p:cNvPr id="120" name="Shape 113"/>
          <p:cNvSpPr/>
          <p:nvPr/>
        </p:nvSpPr>
        <p:spPr>
          <a:xfrm>
            <a:off x="23810976" y="7388352"/>
            <a:ext cx="8796528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21" name="Text 114"/>
          <p:cNvSpPr/>
          <p:nvPr/>
        </p:nvSpPr>
        <p:spPr>
          <a:xfrm>
            <a:off x="23920704" y="7388352"/>
            <a:ext cx="8668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22" name="Shape 115"/>
          <p:cNvSpPr/>
          <p:nvPr/>
        </p:nvSpPr>
        <p:spPr>
          <a:xfrm>
            <a:off x="23902416" y="7827264"/>
            <a:ext cx="861364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C0D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1000"/>
              </a:srgbClr>
            </a:outerShdw>
          </a:effectLst>
        </p:spPr>
      </p:sp>
      <p:pic>
        <p:nvPicPr>
          <p:cNvPr id="123" name="Image 4" descr="/sessions/busy-loving-fermat/mnt/JetEngineSimulation/outputs/plots/pareto_front_2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3920704" y="7863840"/>
            <a:ext cx="8577072" cy="4480560"/>
          </a:xfrm>
          <a:prstGeom prst="rect">
            <a:avLst/>
          </a:prstGeom>
        </p:spPr>
      </p:pic>
      <p:sp>
        <p:nvSpPr>
          <p:cNvPr id="124" name="Text 116"/>
          <p:cNvSpPr/>
          <p:nvPr/>
        </p:nvSpPr>
        <p:spPr>
          <a:xfrm>
            <a:off x="23920704" y="12417552"/>
            <a:ext cx="8577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— 2D Pareto Trade-off Panels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TSFC vs. CO₂, NOx vs. TSFC, SAF content vs. LCA, and Phi vs. NOx. Pareto-optimal blends (★) show that low-TSFC and low-emissions objectives are co-aligned — a key design insight for practical SAF selection.</a:t>
            </a:r>
            <a:endParaRPr lang="en-US" sz="1300" dirty="0"/>
          </a:p>
        </p:txBody>
      </p:sp>
      <p:sp>
        <p:nvSpPr>
          <p:cNvPr id="125" name="Text 117"/>
          <p:cNvSpPr/>
          <p:nvPr/>
        </p:nvSpPr>
        <p:spPr>
          <a:xfrm>
            <a:off x="23948136" y="13514832"/>
            <a:ext cx="85679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 Pareto-optimal blends identified from 1,000 simulated engine cycles — a search infeasible to conduct physically (Baghernejad &amp; Aslanzadeh, 2022).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CO₂ blend (~49% SAF: HEFA + FT-SPK + ATJ-SPK) achieves ~51% lifecycle CO₂ reduction vs. Jet-A while maintaining specific thrust within ±0.7% — verifying performance preservation (Akdeniz et al., 2023).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Pareto solutions contain &gt;40% SAF, confirming high-SAF blends dominate the optimal performance-emissions region; fuel efficiency (TSFC) and emissions reduction are co-aligned objectives.</a:t>
            </a:r>
            <a:endParaRPr lang="en-US" sz="1500" dirty="0"/>
          </a:p>
        </p:txBody>
      </p:sp>
      <p:sp>
        <p:nvSpPr>
          <p:cNvPr id="126" name="Shape 118"/>
          <p:cNvSpPr/>
          <p:nvPr/>
        </p:nvSpPr>
        <p:spPr>
          <a:xfrm>
            <a:off x="23810976" y="15544800"/>
            <a:ext cx="8796528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27" name="Text 119"/>
          <p:cNvSpPr/>
          <p:nvPr/>
        </p:nvSpPr>
        <p:spPr>
          <a:xfrm>
            <a:off x="23920704" y="15544800"/>
            <a:ext cx="8668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28" name="Text 120"/>
          <p:cNvSpPr/>
          <p:nvPr/>
        </p:nvSpPr>
        <p:spPr>
          <a:xfrm>
            <a:off x="23948136" y="15983712"/>
            <a:ext cx="856792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combustion testing of top Pareto blends (lab calorimetry or partner test stand).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Takeoff calibration: reduce +27% fuel flow overprediction via compressor map integration.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2D planar nozzle (LE-PINN) once training instability is resolved (Ma et al., 2026).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Fleet-level lifecycle mission simulation with full altitude/payload/range profiles.</a:t>
            </a:r>
            <a:endParaRPr lang="en-US" sz="1450" dirty="0"/>
          </a:p>
        </p:txBody>
      </p:sp>
      <p:sp>
        <p:nvSpPr>
          <p:cNvPr id="129" name="Shape 121"/>
          <p:cNvSpPr/>
          <p:nvPr/>
        </p:nvSpPr>
        <p:spPr>
          <a:xfrm>
            <a:off x="23810976" y="18288000"/>
            <a:ext cx="8796528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130" name="Text 122"/>
          <p:cNvSpPr/>
          <p:nvPr/>
        </p:nvSpPr>
        <p:spPr>
          <a:xfrm>
            <a:off x="23920704" y="18288000"/>
            <a:ext cx="8668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131" name="Text 123"/>
          <p:cNvSpPr/>
          <p:nvPr/>
        </p:nvSpPr>
        <p:spPr>
          <a:xfrm>
            <a:off x="23920704" y="18726912"/>
            <a:ext cx="8595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Akdeniz et al. (2023). Thermodynamic analyses of turbofan for dual-fueled ops. Energy 326, 136315.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 et al. (2019). Optuna. KDD 2019. doi:10.1145/3292500.3330701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Alagumalai et al. (2021). NOx chemical kinetics in IC engines. Elsevier.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Baghernejad &amp; Aslanzadeh (2022). Multi-objective optimization. Elsevier.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Cantera (n.d.). Open-source chemical kinetics. cantera.org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Frassoldati et al. (2015). n-Alkane oxidation kinetics. Combust. Flame 162(9).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 et al. (2024). H₂ combustion 0D/1D/3D-CFD. Energies 17(22).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Kuzhagaliyeva et al. (2022). AI fuel design. Commun. Chem. 5, 111.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et al. (2026). LE-PINN for nozzle aerothermal. AST 168, 111002.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 et al. (2023). PINNs for diesel engines. Sci. Rep. 13, 13683.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Raissi et al. (2019). Physics-informed NNs. J. Comput. Phys. 378.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Rakesh et al. (2019). Jet engine performance analysis. IJEAT 8(6S2).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Sarathy et al. (2011). Iso-octane kinetics. Combust. Flame 158(12).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Şahin (2023). ML for biodiesel blends. Heliyon 9(11), e21365.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DOE (n.d.). Alternative Fuels Data Center: SAF. afdc.energy.gov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(2024). SAF opportunities. Carbon Capture Sci. Tech. 13.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(2020). Reaction mechanisms in combustion. PECS 79.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(2018). n-Dodecane oxidation. Combust. Flame 197.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Multi-Objective Optimization of SAF Blends</dc:title>
  <dc:subject>PptxGenJS Presentation</dc:subject>
  <dc:creator>Arnav Patil</dc:creator>
  <cp:lastModifiedBy>Arnav Patil</cp:lastModifiedBy>
  <cp:revision>1</cp:revision>
  <dcterms:created xsi:type="dcterms:W3CDTF">2026-05-12T01:48:13Z</dcterms:created>
  <dcterms:modified xsi:type="dcterms:W3CDTF">2026-05-12T01:48:13Z</dcterms:modified>
</cp:coreProperties>
</file>